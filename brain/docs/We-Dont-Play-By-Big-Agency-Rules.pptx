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image" Target="../media/image-11-5.jpeg"/><Relationship Id="rId6" Type="http://schemas.openxmlformats.org/officeDocument/2006/relationships/image" Target="../media/image-11-6.jpeg"/><Relationship Id="rId7" Type="http://schemas.openxmlformats.org/officeDocument/2006/relationships/image" Target="../media/image-11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517850" y="802109"/>
            <a:ext cx="2108225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592264" y="839316"/>
            <a:ext cx="241659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BOUTIQUE. DIGITAL-FIRST. UNAPOLOGETIC.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96119" y="1040234"/>
            <a:ext cx="8151763" cy="2325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 Don't Play By Big Agency Rules.</a:t>
            </a:r>
            <a:endParaRPr lang="en-US" sz="7300" dirty="0"/>
          </a:p>
        </p:txBody>
      </p:sp>
      <p:sp>
        <p:nvSpPr>
          <p:cNvPr id="7" name="Text 4"/>
          <p:cNvSpPr/>
          <p:nvPr/>
        </p:nvSpPr>
        <p:spPr>
          <a:xfrm>
            <a:off x="267519" y="355200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Game Changer Marketing Agency</a:t>
            </a:r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GCC's Organic-First Growth Partner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3889995"/>
            <a:ext cx="8151763" cy="451321"/>
          </a:xfrm>
          <a:prstGeom prst="roundRect">
            <a:avLst>
              <a:gd name="adj" fmla="val 1154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0881" y="3894758"/>
            <a:ext cx="2714030" cy="441796"/>
          </a:xfrm>
          <a:custGeom>
            <a:avLst/>
            <a:gdLst/>
            <a:ahLst/>
            <a:cxnLst/>
            <a:rect l="l" t="t" r="r" b="b"/>
            <a:pathLst>
              <a:path w="2714030" h="441796">
                <a:moveTo>
                  <a:pt x="43416" y="0"/>
                </a:moveTo>
                <a:lnTo>
                  <a:pt x="2714030" y="0"/>
                </a:lnTo>
                <a:lnTo>
                  <a:pt x="2714030" y="441796"/>
                </a:lnTo>
                <a:lnTo>
                  <a:pt x="43416" y="441796"/>
                </a:lnTo>
                <a:arcTo hR="43416" wR="43416" stAng="5400000" swAng="5400000"/>
                <a:lnTo>
                  <a:pt x="0" y="43416"/>
                </a:lnTo>
                <a:arcTo hR="43416" wR="4341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Text 7"/>
          <p:cNvSpPr/>
          <p:nvPr/>
        </p:nvSpPr>
        <p:spPr>
          <a:xfrm>
            <a:off x="624855" y="4018731"/>
            <a:ext cx="24660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 Solutions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14911" y="3894758"/>
            <a:ext cx="2714104" cy="441796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2" name="Shape 9"/>
          <p:cNvSpPr/>
          <p:nvPr/>
        </p:nvSpPr>
        <p:spPr>
          <a:xfrm>
            <a:off x="3214911" y="3894758"/>
            <a:ext cx="14288" cy="441796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13" name="Text 10"/>
          <p:cNvSpPr/>
          <p:nvPr/>
        </p:nvSpPr>
        <p:spPr>
          <a:xfrm>
            <a:off x="3338885" y="4018731"/>
            <a:ext cx="24661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 GCC Markets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29015" y="3894758"/>
            <a:ext cx="2714104" cy="441796"/>
          </a:xfrm>
          <a:custGeom>
            <a:avLst/>
            <a:gdLst/>
            <a:ahLst/>
            <a:cxnLst/>
            <a:rect l="l" t="t" r="r" b="b"/>
            <a:pathLst>
              <a:path w="2714104" h="441796">
                <a:moveTo>
                  <a:pt x="0" y="0"/>
                </a:moveTo>
                <a:lnTo>
                  <a:pt x="2670688" y="0"/>
                </a:lnTo>
                <a:arcTo hR="43416" wR="43416" stAng="16200000" swAng="5400000"/>
                <a:lnTo>
                  <a:pt x="2714104" y="398380"/>
                </a:lnTo>
                <a:arcTo hR="43416" wR="43416" stAng="0" swAng="5400000"/>
                <a:lnTo>
                  <a:pt x="0" y="441796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5" name="Shape 12"/>
          <p:cNvSpPr/>
          <p:nvPr/>
        </p:nvSpPr>
        <p:spPr>
          <a:xfrm>
            <a:off x="5929015" y="3894758"/>
            <a:ext cx="14288" cy="441796"/>
          </a:xfrm>
          <a:prstGeom prst="roundRect">
            <a:avLst>
              <a:gd name="adj" fmla="val 49998"/>
            </a:avLst>
          </a:prstGeom>
          <a:solidFill>
            <a:srgbClr val="C7C7D0"/>
          </a:solidFill>
          <a:ln/>
        </p:spPr>
      </p:sp>
      <p:sp>
        <p:nvSpPr>
          <p:cNvPr id="16" name="Text 13"/>
          <p:cNvSpPr/>
          <p:nvPr/>
        </p:nvSpPr>
        <p:spPr>
          <a:xfrm>
            <a:off x="6052989" y="4018731"/>
            <a:ext cx="24661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 Wasted Dirhams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12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Big Agencies Got GCC Brands Hooked on Paid Media.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26691"/>
            <a:ext cx="86089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"The moment the budget stops — so does every impression. That's not marketing. That's renting attention."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476301"/>
            <a:ext cx="3998342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70–80%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96119" y="2040657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 GCC budgets go to paid media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49465" y="1476301"/>
            <a:ext cx="39984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35–40%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649465" y="2040657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Rise in GCC digital ad costs since 2021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544514"/>
            <a:ext cx="3998342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3–5x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96119" y="3108871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More trusted impressions from organic vs. paid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9465" y="2544514"/>
            <a:ext cx="39984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49465" y="3108871"/>
            <a:ext cx="399841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 media penetration in UAE — the audience is already there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119" y="3682603"/>
            <a:ext cx="8151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brands that </a:t>
            </a:r>
            <a:pPr algn="ctr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WIN</a:t>
            </a:r>
            <a:pPr algn="ctr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earn attention. They don't just buy it.</a:t>
            </a:r>
            <a:endParaRPr lang="en-US" sz="3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38684"/>
            <a:ext cx="751656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1175891"/>
            <a:ext cx="106002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 WE ARE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7680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We're the Antidote to the Big Agency Machine.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950393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Game Changer is a boutique, digital-first marketing agency built for GCC consumer brands that are tired of bloated retainers and generic strategies. We obsess over your brand — not 40 others.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586112"/>
            <a:ext cx="263455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55" y="2714848"/>
            <a:ext cx="372070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174" y="2817093"/>
            <a:ext cx="167432" cy="1674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4855" y="3210892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Boutique Focus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4855" y="3479155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brand isn't one of 40 clients. It's the only one that matters.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54648" y="2586112"/>
            <a:ext cx="2634630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384" y="2714848"/>
            <a:ext cx="372070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704" y="2817093"/>
            <a:ext cx="167432" cy="1674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384" y="3210892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Organic-First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384" y="3479155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Earned impressions before a single paid dirham is spent.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13252" y="2586112"/>
            <a:ext cx="263455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41988" y="2714848"/>
            <a:ext cx="372070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4307" y="2817093"/>
            <a:ext cx="167432" cy="1674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41988" y="3210892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 GCC Markets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41988" y="3479155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strategy. True local execution. Zero compromise.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7384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Organic-First Isn't a Trend. It's the Only Strategy That Compounds.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20503"/>
            <a:ext cx="310083" cy="3100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85590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92% More Trust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253853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Organic content earns it. Paid ads beg for it.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(Nielsen)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1520503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9465" y="1985590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Compounding Returns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49465" y="2253853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Content, SEO, and communities keep delivering long after campaigns end.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98800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363888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Digital-First by Design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6119" y="3632150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activation is engineered to generate shareable, organic moments.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9465" y="2898800"/>
            <a:ext cx="310083" cy="310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49465" y="3363888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GCC-Native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649465" y="3632150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know what earns traction in Riyadh, Dubai, Kuwait City, and everywhere in between.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53554" y="4308128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Paid media is the accelerator. Organic is the engine.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96119" y="4168601"/>
            <a:ext cx="14288" cy="477515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3421"/>
            <a:ext cx="716161" cy="179561"/>
          </a:xfrm>
          <a:prstGeom prst="roundRect">
            <a:avLst>
              <a:gd name="adj" fmla="val 2212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67035" y="378842"/>
            <a:ext cx="1031528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WE DO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68003"/>
            <a:ext cx="8151763" cy="1477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 Weapons.</a:t>
            </a:r>
            <a:endParaRPr lang="en-US" sz="46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4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Strategy.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267519" y="2214860"/>
            <a:ext cx="86089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Every solution engineered to earn attention before spending a dirham on paid.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2526283"/>
            <a:ext cx="2642146" cy="682823"/>
          </a:xfrm>
          <a:prstGeom prst="roundRect">
            <a:avLst>
              <a:gd name="adj" fmla="val 72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9051" y="2649215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 Retail Experiences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9051" y="2901479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Immersive. Converting. Memorable.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50927" y="2526283"/>
            <a:ext cx="2642146" cy="682823"/>
          </a:xfrm>
          <a:prstGeom prst="roundRect">
            <a:avLst>
              <a:gd name="adj" fmla="val 72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3859" y="2649215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 POSM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73859" y="2901479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Shelf presence that sells.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05736" y="2526283"/>
            <a:ext cx="2642146" cy="682823"/>
          </a:xfrm>
          <a:prstGeom prst="roundRect">
            <a:avLst>
              <a:gd name="adj" fmla="val 72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8668" y="2649215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 Sales Promoters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8668" y="2901479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Human. Trained. Converting.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6119" y="3321769"/>
            <a:ext cx="2642146" cy="682823"/>
          </a:xfrm>
          <a:prstGeom prst="roundRect">
            <a:avLst>
              <a:gd name="adj" fmla="val 72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51" y="3444701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 Social Media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9051" y="3696965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Organic reach engine.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50927" y="3321769"/>
            <a:ext cx="2642146" cy="682823"/>
          </a:xfrm>
          <a:prstGeom prst="roundRect">
            <a:avLst>
              <a:gd name="adj" fmla="val 72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3859" y="3444701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05 Digital &amp; Performance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73859" y="3696965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Precision. No waste.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05736" y="3321769"/>
            <a:ext cx="2642146" cy="682823"/>
          </a:xfrm>
          <a:prstGeom prst="roundRect">
            <a:avLst>
              <a:gd name="adj" fmla="val 72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8668" y="3444701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06 Influencer Management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28668" y="3696965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Micro. Authentic. Affordable.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6119" y="4117256"/>
            <a:ext cx="2642146" cy="682823"/>
          </a:xfrm>
          <a:prstGeom prst="roundRect">
            <a:avLst>
              <a:gd name="adj" fmla="val 72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51" y="4240188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07 PR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9051" y="4492451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Earned media. Free impressions.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50927" y="4117256"/>
            <a:ext cx="2642146" cy="682823"/>
          </a:xfrm>
          <a:prstGeom prst="roundRect">
            <a:avLst>
              <a:gd name="adj" fmla="val 72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3859" y="4240188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08 ATL Media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73859" y="4492451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Amplify what's working.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05736" y="4117256"/>
            <a:ext cx="2642146" cy="682823"/>
          </a:xfrm>
          <a:prstGeom prst="roundRect">
            <a:avLst>
              <a:gd name="adj" fmla="val 72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8668" y="4240188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09 Event Management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28668" y="4492451"/>
            <a:ext cx="239628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to go viral.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89658"/>
            <a:ext cx="1033686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1226865"/>
            <a:ext cx="134205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SOLUTIONS 01 &amp; 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2778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Retail Experiences &amp; POSM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40893"/>
            <a:ext cx="3924598" cy="14749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530" y="2279154"/>
            <a:ext cx="35909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Turn Browsers Into Buyers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1530" y="2596976"/>
            <a:ext cx="3590925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Pop-ups, brand zones, sampling stations &amp; gondola takeovers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Hypermarkets, malls, specialty retail across all 6 GCC markets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to generate shareable in-store moments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8046" y="2140893"/>
            <a:ext cx="3924598" cy="16734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23458" y="2279154"/>
            <a:ext cx="359092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Own the Shelf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23458" y="2596976"/>
            <a:ext cx="3590925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Shelf talkers, wobblers, standees, display units &amp; branded fixtures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In-house design + regional production network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Compliant with Carrefour, LuLu, Panda, Spinneys &amp; all major GCC chains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799"/>
            <a:ext cx="752401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431006"/>
            <a:ext cx="106077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3192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Retail Sales Promoters &amp; Brand Evangelists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205508"/>
            <a:ext cx="86089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right person at the right shelf converts 30–40% more units than any display ever will.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93131"/>
            <a:ext cx="2717229" cy="4961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0092" y="2213223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Recruit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0092" y="2481486"/>
            <a:ext cx="24692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Handpicked for your brand, category &amp; market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593131"/>
            <a:ext cx="2717229" cy="4961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322" y="2213223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37322" y="2481486"/>
            <a:ext cx="246928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Brand-immersed, product-expert, sales-ready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593131"/>
            <a:ext cx="2717229" cy="4961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4551" y="2213223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54551" y="2481486"/>
            <a:ext cx="24692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Hypermarkets, pharmacies, electronics &amp; specialty retail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002384"/>
            <a:ext cx="2717229" cy="4961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0092" y="3622477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20092" y="3890739"/>
            <a:ext cx="24692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dashboards, weekly performance by store &amp; market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348" y="3002384"/>
            <a:ext cx="2717229" cy="49611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37322" y="3622477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337322" y="3890739"/>
            <a:ext cx="246928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to 500+ promoters. Flex for Ramadan, launches &amp; peaks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267519" y="455116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🌐</a:t>
            </a:r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Multilingual teams:</a:t>
            </a:r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Arabic, English, Tagalog, Hindi, Urdu.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64344"/>
            <a:ext cx="1033686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1101551"/>
            <a:ext cx="134205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SOLUTIONS 04 &amp;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0246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 Media &amp; Digital Performance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876053"/>
            <a:ext cx="4103191" cy="2203028"/>
          </a:xfrm>
          <a:prstGeom prst="roundRect">
            <a:avLst>
              <a:gd name="adj" fmla="val 405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000027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Organic Reach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317849"/>
            <a:ext cx="3855244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Instagram, TikTok, Snapchat, X, LinkedIn, YouTube — platform-native content strategies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built for shareability — audiences spread it for you, driving cost-per-impression to near zero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Arabic-English bilingual, GCC calendar-aligned: Ramadan, Eid, National Days, DSF, White Friday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4.2x organic engagement growth within 6 months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paid budgets reduced by up to 30%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00002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Paid-Smart, Not Paid-Heavy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317849"/>
            <a:ext cx="3924598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SEO &amp; content marketing first — free, compounding traffic that reduces paid dependency over time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(Google, Meta, TikTok, Programmatic) only amplifies what's already performing organically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 targeting: A/B creative testing, bid optimization,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 wasted spend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E-commerce: retargeting, CRO, and product listing ads on Noon &amp; Amazon.ae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63613"/>
            <a:ext cx="1033686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1200820"/>
            <a:ext cx="134205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SOLUTIONS 06 &amp; 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0173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Influencer Management &amp; PR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975321"/>
            <a:ext cx="4103191" cy="2004566"/>
          </a:xfrm>
          <a:prstGeom prst="roundRect">
            <a:avLst>
              <a:gd name="adj" fmla="val 445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099295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 &gt; Mega. Always.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417118"/>
            <a:ext cx="3855244" cy="1519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 (10K–100K) &amp; nano (1K–10K) influencers: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60% higher engagement, 6x more cost-effective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mega deals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of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2,000+ vetted GCC creators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all tiers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 community advocacy — not paid celebrity endorsements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Influencer content repurposed as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owned brand assets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extending campaign life at zero added cost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09929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Earned Media = Free Impressions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417118"/>
            <a:ext cx="3924598" cy="1519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Coverage in Gulf News, Khaleej Times, Arab News, Forbes Middle East &amp;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50+ GCC publications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One Forbes ME feature &gt; AED 500,000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display advertising — with more credibility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campaign measured by AVE — we show you exactly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what you got for free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 reduces paid brand awareness spend.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Permanently.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63613"/>
            <a:ext cx="1033686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1200820"/>
            <a:ext cx="134205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SOLUTIONS 08 &amp; 09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40173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ATL Media &amp; Event Management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975321"/>
            <a:ext cx="4103191" cy="2004566"/>
          </a:xfrm>
          <a:prstGeom prst="roundRect">
            <a:avLst>
              <a:gd name="adj" fmla="val 445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099295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ATL Only When It Earns Its Place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417118"/>
            <a:ext cx="3855244" cy="1519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TV, radio, OOH/DOOH, cinema, print — deployed as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amplifiers, never as default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Negotiated rates across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GCC broadcasters, JCDecaux, Viola, Al Arabiya Outdoor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OOH prioritized —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targeted, measurable, switchable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only recommend ATL when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organic momentum is already proven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09929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Event Is a Content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417118"/>
            <a:ext cx="3924598" cy="1519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Brand launches, community events &amp; pop-ups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engineered for shareable moments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Organic social reach from one event =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10x the event cost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paid equivalent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In-house creative, production &amp; on-ground teams —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subcontracting, no inflated costs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Measured by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organic social reach generated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just attendance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0932"/>
            <a:ext cx="1246212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33" y="475580"/>
            <a:ext cx="99194" cy="991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286" y="468139"/>
            <a:ext cx="140583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WE OPERATE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66905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Brief. Six Markets. Zero Compromise.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124264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strategy. True local execution. Simultaneous multi-market delivery.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580629"/>
            <a:ext cx="845493" cy="5225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119" y="2258169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UAE — Headquarters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96119" y="2526432"/>
            <a:ext cx="192166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Dubai, Abu Dhabi &amp; Sharjah.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Our strategic hub.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792" y="1580629"/>
            <a:ext cx="845493" cy="5225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72792" y="2258169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KSA — Riyadh &amp; Jeddah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572792" y="2526432"/>
            <a:ext cx="192166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Largest GCC market.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Vision 2030 momentum.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465" y="1580629"/>
            <a:ext cx="845493" cy="5225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9465" y="2258169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Qatar — Doha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49465" y="2526432"/>
            <a:ext cx="192166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Premium consumers.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 brand affinity.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138" y="1580629"/>
            <a:ext cx="845567" cy="5225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6138" y="2258169"/>
            <a:ext cx="1921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Kuwait — Kuwait City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6726138" y="2526432"/>
            <a:ext cx="19217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Highest per-capita income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the GCC.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171379"/>
            <a:ext cx="845493" cy="52253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6119" y="3848919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Bahrain — Manama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96119" y="4117181"/>
            <a:ext cx="192166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activation hub.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Outsized media influence.</a:t>
            </a:r>
            <a:endParaRPr lang="en-US" sz="9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2792" y="3171379"/>
            <a:ext cx="845493" cy="52253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572792" y="3848919"/>
            <a:ext cx="19216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Oman — Muscat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2572792" y="4117181"/>
            <a:ext cx="192166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Emerging market. Strong brand loyalty.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Underserved by big agencies.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531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Boutique Beats Big.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0088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"Big agencies sell you a team. We give you the team."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78397"/>
            <a:ext cx="3924598" cy="1760190"/>
          </a:xfrm>
          <a:prstGeom prst="roundRect">
            <a:avLst>
              <a:gd name="adj" fmla="val 2960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380" y="2316659"/>
            <a:ext cx="364807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🏢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Big Agency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80" y="2634481"/>
            <a:ext cx="3648075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40+ clients per account manager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Junior teams on your account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Cookie-cutter strategies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Bloated retainers, hidden costs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media is always the answer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8749" y="2038871"/>
            <a:ext cx="4103191" cy="2039243"/>
          </a:xfrm>
          <a:prstGeom prst="roundRect">
            <a:avLst>
              <a:gd name="adj" fmla="val 4380"/>
            </a:avLst>
          </a:prstGeom>
          <a:solidFill>
            <a:srgbClr val="1A1A2E">
              <a:alpha val="9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62723" y="2178397"/>
            <a:ext cx="3855244" cy="1741140"/>
          </a:xfrm>
          <a:prstGeom prst="roundRect">
            <a:avLst>
              <a:gd name="adj" fmla="val 299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1460" y="2307134"/>
            <a:ext cx="35977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Game Changer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1460" y="2624956"/>
            <a:ext cx="3597771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brand gets dedicated focus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Senior talent on every brief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strategy, built for your category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pricing, zero fluff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Organic-first, paid only when it earns its place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046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GCC Market Has Never Been More Ready.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46038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Social penetration is at an all-time high. Ad costs are rising. The window for organic-first brands to dominate is right now.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743745"/>
            <a:ext cx="3998342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96119" y="2308101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 Media Penetration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576364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UAE — one of the highest rates on the planet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49465" y="1743745"/>
            <a:ext cx="39984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80%+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649465" y="2308101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 Media Penetration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9465" y="2576364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KSA — and growing fast across all demographics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6119" y="3084835"/>
            <a:ext cx="3998342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35–40%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6119" y="3649191"/>
            <a:ext cx="39983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Rise in GCC Paid Ad Costs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119" y="3917454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Since 2021 — and the curve is not flattening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49465" y="3084835"/>
            <a:ext cx="39984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3–5x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49465" y="3649191"/>
            <a:ext cx="39984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More Trusted Impressions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9465" y="3917454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Organic vs. paid — consumers know the difference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2154" y="4394969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"The brands that move to organic-first now will own their categories in 3 years. The ones that don't will keep paying more for less."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6119" y="4255443"/>
            <a:ext cx="14288" cy="477515"/>
          </a:xfrm>
          <a:prstGeom prst="roundRect">
            <a:avLst>
              <a:gd name="adj" fmla="val 49998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6119" y="362396"/>
            <a:ext cx="494556" cy="167878"/>
          </a:xfrm>
          <a:prstGeom prst="roundRect">
            <a:avLst>
              <a:gd name="adj" fmla="val 22112"/>
            </a:avLst>
          </a:prstGeom>
          <a:solidFill>
            <a:srgbClr val="E1E1EA"/>
          </a:solidFill>
          <a:ln/>
        </p:spPr>
      </p:sp>
      <p:sp>
        <p:nvSpPr>
          <p:cNvPr id="7" name="Text 3"/>
          <p:cNvSpPr/>
          <p:nvPr/>
        </p:nvSpPr>
        <p:spPr>
          <a:xfrm>
            <a:off x="562347" y="395511"/>
            <a:ext cx="819299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GO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496119" y="569565"/>
            <a:ext cx="8151763" cy="2071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Ready to Stop Renting Attention?</a:t>
            </a:r>
            <a:endParaRPr lang="en-US" sz="6500" dirty="0"/>
          </a:p>
        </p:txBody>
      </p:sp>
      <p:sp>
        <p:nvSpPr>
          <p:cNvPr id="9" name="Text 5"/>
          <p:cNvSpPr/>
          <p:nvPr/>
        </p:nvSpPr>
        <p:spPr>
          <a:xfrm>
            <a:off x="496119" y="2788518"/>
            <a:ext cx="8608963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Let's prove the organic-first model works for your brand — at zero risk.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96119" y="3206428"/>
            <a:ext cx="4362152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Free 60-Min Organic Growth Audit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96119" y="3477444"/>
            <a:ext cx="4362152" cy="570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current paid vs. organic split, benchmarked against GCC category leaders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organic channels you're underutilizing — with quantified reach potential</a:t>
            </a:r>
            <a:endParaRPr lang="en-US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90-day roadmap to reduce paid dependency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053013" y="3108052"/>
            <a:ext cx="3679106" cy="1672977"/>
          </a:xfrm>
          <a:prstGeom prst="roundRect">
            <a:avLst>
              <a:gd name="adj" fmla="val 475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5163443" y="3206428"/>
            <a:ext cx="345824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Commitment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163443" y="3477444"/>
            <a:ext cx="345824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Within 6 months, your organic impressions will outpace paid — or we work for free until they do. That's not a claim. That's a contract.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163443" y="3949973"/>
            <a:ext cx="3458245" cy="14288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5163443" y="4102522"/>
            <a:ext cx="3458245" cy="589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📧</a:t>
            </a:r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hello@gamechangeragency.com</a:t>
            </a:r>
            <a:endParaRPr lang="en-US" sz="850" dirty="0"/>
          </a:p>
          <a:p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📞</a:t>
            </a:r>
            <a:pPr algn="l" indent="0" marL="0">
              <a:lnSpc>
                <a:spcPct val="126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+971 4 XXX XXXX</a:t>
            </a:r>
            <a:endParaRPr lang="en-US" sz="8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Dubai · Riyadh · Doha · Kuwait City · Manama · Muscat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2026-08-11T11:20:52Z</dcterms:created>
  <dcterms:modified xsi:type="dcterms:W3CDTF">2026-08-11T11:20:52Z</dcterms:modified>
</cp:coreProperties>
</file>